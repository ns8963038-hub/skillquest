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K. R. Puram, Bengaluru-49  ·  Affiliated to VTU, Belagavi  ·  AICTE  ·  NAAC B++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1E1B2E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6600" b="1">
                <a:solidFill>
                  <a:srgbClr val="4C2FBF"/>
                </a:solidFill>
                <a:latin typeface="Calibri Light"/>
              </a:rPr>
              <a:t>Skill</a:t>
            </a:r>
            <a:r>
              <a:rPr sz="6600" b="1">
                <a:solidFill>
                  <a:srgbClr val="E0A500"/>
                </a:solidFill>
                <a:latin typeface="Calibri Light"/>
              </a:rPr>
              <a:t>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7619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0">
                <a:solidFill>
                  <a:srgbClr val="55516A"/>
                </a:solidFill>
                <a:latin typeface="Calibri"/>
              </a:rPr>
              <a:t>An AI-powered gamified platform for personalized Java &amp; DSA placement preparation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3977639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B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C98A00"/>
                </a:solidFill>
                <a:latin typeface="Calibri"/>
              </a:rPr>
              <a:t>◆  PHASE 2 — PROJECT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800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8A8698"/>
                </a:solidFill>
                <a:latin typeface="Calibri"/>
              </a:rPr>
              <a:t>SUBMITTED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102352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1B2E"/>
                </a:solidFill>
                <a:latin typeface="Calibri"/>
              </a:rPr>
              <a:t>Nandan S</a:t>
            </a:r>
            <a:r>
              <a:rPr sz="1100" b="0">
                <a:solidFill>
                  <a:srgbClr val="8A8698"/>
                </a:solidFill>
                <a:latin typeface="Calibri"/>
              </a:rPr>
              <a:t>   1SP23AD016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1B2E"/>
                </a:solidFill>
                <a:latin typeface="Calibri"/>
              </a:rPr>
              <a:t>Anjith K. J</a:t>
            </a:r>
            <a:r>
              <a:rPr sz="1100" b="0">
                <a:solidFill>
                  <a:srgbClr val="8A8698"/>
                </a:solidFill>
                <a:latin typeface="Calibri"/>
              </a:rPr>
              <a:t>   1SP23AD032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1B2E"/>
                </a:solidFill>
                <a:latin typeface="Calibri"/>
              </a:rPr>
              <a:t>Bhanushree C. V</a:t>
            </a:r>
            <a:r>
              <a:rPr sz="1100" b="0">
                <a:solidFill>
                  <a:srgbClr val="8A8698"/>
                </a:solidFill>
                <a:latin typeface="Calibri"/>
              </a:rPr>
              <a:t>   1SP23AD005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800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8A8698"/>
                </a:solidFill>
                <a:latin typeface="Calibri"/>
              </a:rPr>
              <a:t>UNDER THE GUIDANCE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10235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E1B2E"/>
                </a:solidFill>
                <a:latin typeface="Calibri"/>
              </a:rPr>
              <a:t>Dr. Dhivya Karunya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5516A"/>
                </a:solidFill>
                <a:latin typeface="Calibri"/>
              </a:rPr>
              <a:t>HoD &amp; Asst. Professor, Dept. of AI &amp;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PHASE 0 ·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Why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SkillQuest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>
                <a:solidFill>
                  <a:srgbClr val="55516A"/>
                </a:solidFill>
                <a:latin typeface="Calibri"/>
              </a:rPr>
              <a:t>The path from “learning to code” to “clearing the interview” is broken in four concrete ways.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11535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C98A00"/>
                </a:solidFill>
                <a:latin typeface="Calibri"/>
              </a:rPr>
              <a:t>▸  </a:t>
            </a:r>
            <a:r>
              <a:rPr sz="1600" b="1">
                <a:solidFill>
                  <a:srgbClr val="1E1B2E"/>
                </a:solidFill>
                <a:latin typeface="Calibri"/>
              </a:rPr>
              <a:t>Readiness gap.</a:t>
            </a:r>
            <a:r>
              <a:rPr sz="1600" b="0">
                <a:solidFill>
                  <a:srgbClr val="55516A"/>
                </a:solidFill>
                <a:latin typeface="Calibri"/>
              </a:rPr>
              <a:t>  Many graduates can’t clear placement coding rounds despite years of study — practice is scattered and unstructured.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C98A00"/>
                </a:solidFill>
                <a:latin typeface="Calibri"/>
              </a:rPr>
              <a:t>▸  </a:t>
            </a:r>
            <a:r>
              <a:rPr sz="1600" b="1">
                <a:solidFill>
                  <a:srgbClr val="1E1B2E"/>
                </a:solidFill>
                <a:latin typeface="Calibri"/>
              </a:rPr>
              <a:t>One-size-fits-all content.</a:t>
            </a:r>
            <a:r>
              <a:rPr sz="1600" b="0">
                <a:solidFill>
                  <a:srgbClr val="55516A"/>
                </a:solidFill>
                <a:latin typeface="Calibri"/>
              </a:rPr>
              <a:t>  Courses ignore a student’s actual level, goal and time — beginners and finalists get the same track.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C98A00"/>
                </a:solidFill>
                <a:latin typeface="Calibri"/>
              </a:rPr>
              <a:t>▸  </a:t>
            </a:r>
            <a:r>
              <a:rPr sz="1600" b="1">
                <a:solidFill>
                  <a:srgbClr val="1E1B2E"/>
                </a:solidFill>
                <a:latin typeface="Calibri"/>
              </a:rPr>
              <a:t>Motivation drop-off.</a:t>
            </a:r>
            <a:r>
              <a:rPr sz="1600" b="0">
                <a:solidFill>
                  <a:srgbClr val="55516A"/>
                </a:solidFill>
                <a:latin typeface="Calibri"/>
              </a:rPr>
              <a:t>  Learners quit within weeks, and no one notices in time to step in.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C98A00"/>
                </a:solidFill>
                <a:latin typeface="Calibri"/>
              </a:rPr>
              <a:t>▸  </a:t>
            </a:r>
            <a:r>
              <a:rPr sz="1600" b="1">
                <a:solidFill>
                  <a:srgbClr val="1E1B2E"/>
                </a:solidFill>
                <a:latin typeface="Calibri"/>
              </a:rPr>
              <a:t>No placement visibility.</a:t>
            </a:r>
            <a:r>
              <a:rPr sz="1600" b="0">
                <a:solidFill>
                  <a:srgbClr val="55516A"/>
                </a:solidFill>
                <a:latin typeface="Calibri"/>
              </a:rPr>
              <a:t>  Students can’t see how ready they are for a specific company’s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PHASE 0 ·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What we set out to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10911535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C98A00"/>
                </a:solidFill>
                <a:latin typeface="Calibri"/>
              </a:rPr>
              <a:t>▸  </a:t>
            </a:r>
            <a:r>
              <a:rPr sz="1650" b="1">
                <a:solidFill>
                  <a:srgbClr val="1E1B2E"/>
                </a:solidFill>
                <a:latin typeface="Calibri"/>
              </a:rPr>
              <a:t>Teach Java &amp; DSA as a game</a:t>
            </a:r>
            <a:r>
              <a:rPr sz="1650" b="0">
                <a:solidFill>
                  <a:srgbClr val="55516A"/>
                </a:solidFill>
                <a:latin typeface="Calibri"/>
              </a:rPr>
              <a:t>  — code-to-solve levels with real execution, XP and rewards, tuned for Indian placement prep.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C98A00"/>
                </a:solidFill>
                <a:latin typeface="Calibri"/>
              </a:rPr>
              <a:t>▸  </a:t>
            </a:r>
            <a:r>
              <a:rPr sz="1650" b="1">
                <a:solidFill>
                  <a:srgbClr val="1E1B2E"/>
                </a:solidFill>
                <a:latin typeface="Calibri"/>
              </a:rPr>
              <a:t>Personalize the roadmap</a:t>
            </a:r>
            <a:r>
              <a:rPr sz="1650" b="0">
                <a:solidFill>
                  <a:srgbClr val="55516A"/>
                </a:solidFill>
                <a:latin typeface="Calibri"/>
              </a:rPr>
              <a:t>  — generate an ordered plan from each student’s goal, tested level and weekly hours.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C98A00"/>
                </a:solidFill>
                <a:latin typeface="Calibri"/>
              </a:rPr>
              <a:t>▸  </a:t>
            </a:r>
            <a:r>
              <a:rPr sz="1650" b="1">
                <a:solidFill>
                  <a:srgbClr val="1E1B2E"/>
                </a:solidFill>
                <a:latin typeface="Calibri"/>
              </a:rPr>
              <a:t>Predict disengagement early</a:t>
            </a:r>
            <a:r>
              <a:rPr sz="1650" b="0">
                <a:solidFill>
                  <a:srgbClr val="55516A"/>
                </a:solidFill>
                <a:latin typeface="Calibri"/>
              </a:rPr>
              <a:t>  — an ML model flags at-risk learners so they can be nudged back before they quit.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C98A00"/>
                </a:solidFill>
                <a:latin typeface="Calibri"/>
              </a:rPr>
              <a:t>▸  </a:t>
            </a:r>
            <a:r>
              <a:rPr sz="1650" b="1">
                <a:solidFill>
                  <a:srgbClr val="1E1B2E"/>
                </a:solidFill>
                <a:latin typeface="Calibri"/>
              </a:rPr>
              <a:t>Show placement readiness</a:t>
            </a:r>
            <a:r>
              <a:rPr sz="1650" b="0">
                <a:solidFill>
                  <a:srgbClr val="55516A"/>
                </a:solidFill>
                <a:latin typeface="Calibri"/>
              </a:rPr>
              <a:t>  — coverage against real company requirements, with the exact gaps to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PHASE 1 ·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How the pieces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fit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>
                <a:solidFill>
                  <a:srgbClr val="55516A"/>
                </a:solidFill>
                <a:latin typeface="Calibri"/>
              </a:rPr>
              <a:t>A three-tier system — a React game client, a Node API for game logic, and a Python AI service for the smart parts — over a Supabase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200400" cy="841248"/>
          </a:xfrm>
          <a:prstGeom prst="roundRect">
            <a:avLst>
              <a:gd name="adj" fmla="val 12000"/>
            </a:avLst>
          </a:prstGeom>
          <a:solidFill>
            <a:srgbClr val="EEE9FB"/>
          </a:solidFill>
          <a:ln w="12700">
            <a:solidFill>
              <a:srgbClr val="4C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Student (Browser)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React · Vite ·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8892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8A869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788920"/>
            <a:ext cx="32004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Web API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Node · Express · Prisma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8892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8A869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788920"/>
            <a:ext cx="35021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Database &amp; Auth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Supabase · 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2587752" cy="841248"/>
          </a:xfrm>
          <a:prstGeom prst="roundRect">
            <a:avLst>
              <a:gd name="adj" fmla="val 12000"/>
            </a:avLst>
          </a:prstGeom>
          <a:solidFill>
            <a:srgbClr val="FBF1D8"/>
          </a:solidFill>
          <a:ln w="12700">
            <a:solidFill>
              <a:srgbClr val="E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AI Service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Python · 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3794760"/>
            <a:ext cx="25877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Roadmap engine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weighted topo-sort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794760"/>
            <a:ext cx="25877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Goal understanding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sentence embeddings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3794760"/>
            <a:ext cx="259689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Dropout model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Random Forest · OULAD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35021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Code Execution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sandboxed Java · Judge0 / Paiza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4800600"/>
            <a:ext cx="35021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Content store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skills · levels · companies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4800600"/>
            <a:ext cx="353872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350" b="1">
                <a:solidFill>
                  <a:srgbClr val="1E1B2E"/>
                </a:solidFill>
                <a:latin typeface="Calibri"/>
              </a:rPr>
              <a:t>Hosting</a:t>
            </a:r>
          </a:p>
          <a:p>
            <a:pPr algn="l"/>
            <a:r>
              <a:rPr sz="1050" b="0">
                <a:solidFill>
                  <a:srgbClr val="8A8698"/>
                </a:solidFill>
                <a:latin typeface="Calibri"/>
              </a:rPr>
              <a:t>Vercel ·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DEVELOPMENT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The project in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six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>
                <a:solidFill>
                  <a:srgbClr val="55516A"/>
                </a:solidFill>
                <a:latin typeface="Calibri"/>
              </a:rPr>
              <a:t>Modules 1–3 form a complete, playable learning loop and are completed. Modules 4–6 add the progress, placement and AI-analytics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61488"/>
            <a:ext cx="5330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29077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700" b="1">
                <a:solidFill>
                  <a:srgbClr val="2E9E6B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88950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50" b="1">
                <a:solidFill>
                  <a:srgbClr val="1E1B2E"/>
                </a:solidFill>
                <a:latin typeface="Calibri"/>
              </a:rPr>
              <a:t>Authentication &amp; Smart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26440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55516A"/>
                </a:solidFill>
                <a:latin typeface="Calibri"/>
              </a:rPr>
              <a:t>Secure sign-in and a guided quiz capturing goal, level and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290779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E9E6B"/>
                </a:solidFill>
                <a:latin typeface="Calibri"/>
              </a:rPr>
              <a:t>✓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61488"/>
            <a:ext cx="5330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29077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700" b="1">
                <a:solidFill>
                  <a:srgbClr val="2E9E6B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88950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50" b="1">
                <a:solidFill>
                  <a:srgbClr val="1E1B2E"/>
                </a:solidFill>
                <a:latin typeface="Calibri"/>
              </a:rPr>
              <a:t>Personalized Roadmap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26440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55516A"/>
                </a:solidFill>
                <a:latin typeface="Calibri"/>
              </a:rPr>
              <a:t>Turns the skill graph into an ordered, personal quest 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33888" y="290779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E9E6B"/>
                </a:solidFill>
                <a:latin typeface="Calibri"/>
              </a:rPr>
              <a:t>✓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59352"/>
            <a:ext cx="5330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1056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700" b="1">
                <a:solidFill>
                  <a:srgbClr val="2E9E6B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08736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50" b="1">
                <a:solidFill>
                  <a:srgbClr val="1E1B2E"/>
                </a:solidFill>
                <a:latin typeface="Calibri"/>
              </a:rPr>
              <a:t>Interactive Coding Game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46227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55516A"/>
                </a:solidFill>
                <a:latin typeface="Calibri"/>
              </a:rPr>
              <a:t>Solve levels with real Java execution, XP and a treasure reward.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6048" y="410565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E9E6B"/>
                </a:solidFill>
                <a:latin typeface="Calibri"/>
              </a:rPr>
              <a:t>✓ 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59352"/>
            <a:ext cx="5330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64224" y="41056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E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700" b="1">
                <a:solidFill>
                  <a:srgbClr val="4C2FB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08736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50" b="1">
                <a:solidFill>
                  <a:srgbClr val="1E1B2E"/>
                </a:solidFill>
                <a:latin typeface="Calibri"/>
              </a:rPr>
              <a:t>Progress, Streaks &amp; Achievements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46227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55516A"/>
                </a:solidFill>
                <a:latin typeface="Calibri"/>
              </a:rPr>
              <a:t>Dashboard, daily streaks, badges and leaderboard.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59568" y="410565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55516A"/>
                </a:solidFill>
                <a:latin typeface="Calibri"/>
              </a:rPr>
              <a:t>Upcoming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57216"/>
            <a:ext cx="5330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6384" y="5303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E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700" b="1">
                <a:solidFill>
                  <a:srgbClr val="4C2FB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528523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50" b="1">
                <a:solidFill>
                  <a:srgbClr val="1E1B2E"/>
                </a:solidFill>
                <a:latin typeface="Calibri"/>
              </a:rPr>
              <a:t>Placement Readiness &amp; Company DSA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5660136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55516A"/>
                </a:solidFill>
                <a:latin typeface="Calibri"/>
              </a:rPr>
              <a:t>Coverage scoring vs companies + company-wise practice.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81728" y="53035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55516A"/>
                </a:solidFill>
                <a:latin typeface="Calibri"/>
              </a:rPr>
              <a:t>Upcoming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57216"/>
            <a:ext cx="533095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64224" y="5303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E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700" b="1">
                <a:solidFill>
                  <a:srgbClr val="4C2FB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528523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350" b="1">
                <a:solidFill>
                  <a:srgbClr val="1E1B2E"/>
                </a:solidFill>
                <a:latin typeface="Calibri"/>
              </a:rPr>
              <a:t>AI Disengagement Prediction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5660136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55516A"/>
                </a:solidFill>
                <a:latin typeface="Calibri"/>
              </a:rPr>
              <a:t>OULAD-trained model that flags at-risk learners early.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59568" y="53035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55516A"/>
                </a:solidFill>
                <a:latin typeface="Calibri"/>
              </a:rPr>
              <a:t>Upcoming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MODULE 1 ·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Authentication &amp;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Smart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5836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Secure email sign-in</a:t>
            </a:r>
            <a:r>
              <a:rPr sz="1500" b="0">
                <a:solidFill>
                  <a:srgbClr val="55516A"/>
                </a:solidFill>
                <a:latin typeface="Calibri"/>
              </a:rPr>
              <a:t>  via Supabase Auth, with tokens verified server-side (ES256 / JWKS).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A 12-question placement quiz</a:t>
            </a:r>
            <a:r>
              <a:rPr sz="1500" b="0">
                <a:solidFill>
                  <a:srgbClr val="55516A"/>
                </a:solidFill>
                <a:latin typeface="Calibri"/>
              </a:rPr>
              <a:t>  that “tests out” skills a student already knows, so the roadmap starts at the right level.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Captures goal, weekly hours &amp; target companies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the inputs the roadmap engine needs.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Free-text goal mapped by NLP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sentence embeddings map the goal to a category, not brittle keywords.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286000"/>
            <a:ext cx="405079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450592"/>
            <a:ext cx="3685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8A8698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2761488"/>
            <a:ext cx="36484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C98A00"/>
                </a:solidFill>
                <a:latin typeface="Calibri"/>
              </a:rPr>
              <a:t>◆  </a:t>
            </a:r>
            <a:r>
              <a:rPr sz="1300" b="0">
                <a:solidFill>
                  <a:srgbClr val="1E1B2E"/>
                </a:solidFill>
                <a:latin typeface="Calibri"/>
              </a:rPr>
              <a:t>An authenticated student profile with goal, tested level, hours and target companies persisted.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40480"/>
            <a:ext cx="4050791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7" y="3986784"/>
            <a:ext cx="3685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8A8698"/>
                </a:solidFill>
                <a:latin typeface="Calibri"/>
              </a:rPr>
              <a:t>KEY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7" y="4315968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backend/src/auth.ts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7" y="4700016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ai-service/app/goal_map.py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7" y="5084064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frontend · OnboardingWizard.tsx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MODULE 1 · 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Sign-in &amp; onboarding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in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0911535" cy="3063240"/>
          </a:xfrm>
          <a:prstGeom prst="roundRect">
            <a:avLst>
              <a:gd name="adj" fmla="val 3000"/>
            </a:avLst>
          </a:prstGeom>
          <a:solidFill>
            <a:srgbClr val="F3F1EA"/>
          </a:solidFill>
          <a:ln w="19050">
            <a:solidFill>
              <a:srgbClr val="8A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3000" b="0">
                <a:solidFill>
                  <a:srgbClr val="4C2FBF"/>
                </a:solidFill>
                <a:latin typeface="Calibri"/>
              </a:rPr>
              <a:t>▢</a:t>
            </a:r>
          </a:p>
          <a:p>
            <a:pPr algn="ctr"/>
            <a:r>
              <a:rPr sz="1800" b="1">
                <a:solidFill>
                  <a:srgbClr val="1E1B2E"/>
                </a:solidFill>
                <a:latin typeface="Calibri"/>
              </a:rPr>
              <a:t>Screenshot — Onboarding quiz screen</a:t>
            </a:r>
          </a:p>
          <a:p>
            <a:pPr algn="ctr"/>
            <a:r>
              <a:rPr sz="1300" b="0">
                <a:solidFill>
                  <a:srgbClr val="8A8698"/>
                </a:solidFill>
                <a:latin typeface="Calibri"/>
              </a:rPr>
              <a:t>Insert the SkillQuest sign-in / onboarding capture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>
                <a:solidFill>
                  <a:srgbClr val="1E1B2E"/>
                </a:solidFill>
                <a:latin typeface="Calibri"/>
              </a:rPr>
              <a:t>What it shows:  </a:t>
            </a:r>
            <a:r>
              <a:rPr sz="1400" b="0">
                <a:solidFill>
                  <a:srgbClr val="55516A"/>
                </a:solidFill>
                <a:latin typeface="Calibri"/>
              </a:rPr>
              <a:t>A student signs in and answers the placement quiz — the platform records their level and goal before any lesson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MODULE 2 ·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Personalized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Roadmap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5836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19 Java &amp; DSA skills as a prerequisite graph</a:t>
            </a:r>
            <a:r>
              <a:rPr sz="1500" b="0">
                <a:solidFill>
                  <a:srgbClr val="55516A"/>
                </a:solidFill>
                <a:latin typeface="Calibri"/>
              </a:rPr>
              <a:t>  (a directed acyclic graph).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A weighted topological sort</a:t>
            </a:r>
            <a:r>
              <a:rPr sz="1500" b="0">
                <a:solidFill>
                  <a:srgbClr val="55516A"/>
                </a:solidFill>
                <a:latin typeface="Calibri"/>
              </a:rPr>
              <a:t>  (Kahn’s algorithm) orders skills by prerequisites and the student’s goal &amp; tested level.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Tested-out skills are skipped</a:t>
            </a:r>
            <a:r>
              <a:rPr sz="1500" b="0">
                <a:solidFill>
                  <a:srgbClr val="55516A"/>
                </a:solidFill>
                <a:latin typeface="Calibri"/>
              </a:rPr>
              <a:t>  and the plan is sized to the student’s weekly hours.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Rendered as an interactive quest map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a hero advances along a trail of treasure-chest nodes.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286000"/>
            <a:ext cx="405079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450592"/>
            <a:ext cx="3685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8A8698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2761488"/>
            <a:ext cx="36484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C98A00"/>
                </a:solidFill>
                <a:latin typeface="Calibri"/>
              </a:rPr>
              <a:t>◆  </a:t>
            </a:r>
            <a:r>
              <a:rPr sz="1300" b="0">
                <a:solidFill>
                  <a:srgbClr val="1E1B2E"/>
                </a:solidFill>
                <a:latin typeface="Calibri"/>
              </a:rPr>
              <a:t>A persisted, ordered roadmap unique to each student — shown as their quest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40480"/>
            <a:ext cx="4050791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7" y="3986784"/>
            <a:ext cx="3685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8A8698"/>
                </a:solidFill>
                <a:latin typeface="Calibri"/>
              </a:rPr>
              <a:t>KEY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7" y="4315968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ai-service/app/roadmap.py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7" y="4700016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frontend · QuestMap.tsx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7" y="5084064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content · skills graph (JSON)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MODULE 2 · 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The personalized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quest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0911535" cy="3063240"/>
          </a:xfrm>
          <a:prstGeom prst="roundRect">
            <a:avLst>
              <a:gd name="adj" fmla="val 3000"/>
            </a:avLst>
          </a:prstGeom>
          <a:solidFill>
            <a:srgbClr val="F3F1EA"/>
          </a:solidFill>
          <a:ln w="19050">
            <a:solidFill>
              <a:srgbClr val="8A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3000" b="0">
                <a:solidFill>
                  <a:srgbClr val="4C2FBF"/>
                </a:solidFill>
                <a:latin typeface="Calibri"/>
              </a:rPr>
              <a:t>▢</a:t>
            </a:r>
          </a:p>
          <a:p>
            <a:pPr algn="ctr"/>
            <a:r>
              <a:rPr sz="1800" b="1">
                <a:solidFill>
                  <a:srgbClr val="1E1B2E"/>
                </a:solidFill>
                <a:latin typeface="Calibri"/>
              </a:rPr>
              <a:t>Screenshot — Roadmap / quest map</a:t>
            </a:r>
          </a:p>
          <a:p>
            <a:pPr algn="ctr"/>
            <a:r>
              <a:rPr sz="1300" b="0">
                <a:solidFill>
                  <a:srgbClr val="8A8698"/>
                </a:solidFill>
                <a:latin typeface="Calibri"/>
              </a:rPr>
              <a:t>Insert the quest-map capture (hero avatar + treasure chests)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>
                <a:solidFill>
                  <a:srgbClr val="1E1B2E"/>
                </a:solidFill>
                <a:latin typeface="Calibri"/>
              </a:rPr>
              <a:t>What it shows:  </a:t>
            </a:r>
            <a:r>
              <a:rPr sz="1400" b="0">
                <a:solidFill>
                  <a:srgbClr val="55516A"/>
                </a:solidFill>
                <a:latin typeface="Calibri"/>
              </a:rPr>
              <a:t>Each student’s skills laid out as a trail — the hero stands on the current skill, completed skills are open chests, later ones stay locked.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MODULE 3 ·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Interactive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Coding Game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5836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An in-browser Monaco (VS Code) editor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each level is a problem, starter code and hidden test cases.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Real Java runs in a sandbox</a:t>
            </a:r>
            <a:r>
              <a:rPr sz="1500" b="0">
                <a:solidFill>
                  <a:srgbClr val="55516A"/>
                </a:solidFill>
                <a:latin typeface="Calibri"/>
              </a:rPr>
              <a:t>  (Judge0 / Paiza) — code is compiled and checked against every test.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Solving a level awards XP once, atomically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no double-counting on re-submits.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C98A00"/>
                </a:solidFill>
                <a:latin typeface="Calibri"/>
              </a:rPr>
              <a:t>▸  </a:t>
            </a:r>
            <a:r>
              <a:rPr sz="1500" b="1">
                <a:solidFill>
                  <a:srgbClr val="1E1B2E"/>
                </a:solidFill>
                <a:latin typeface="Calibri"/>
              </a:rPr>
              <a:t>A treasure chest opens with confetti</a:t>
            </a:r>
            <a:r>
              <a:rPr sz="1500" b="0">
                <a:solidFill>
                  <a:srgbClr val="55516A"/>
                </a:solidFill>
                <a:latin typeface="Calibri"/>
              </a:rPr>
              <a:t>  on success — the reward moment that makes it a game.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286000"/>
            <a:ext cx="4050791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450592"/>
            <a:ext cx="3685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8A8698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2761488"/>
            <a:ext cx="36484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C98A00"/>
                </a:solidFill>
                <a:latin typeface="Calibri"/>
              </a:rPr>
              <a:t>◆  </a:t>
            </a:r>
            <a:r>
              <a:rPr sz="1300" b="0">
                <a:solidFill>
                  <a:srgbClr val="1E1B2E"/>
                </a:solidFill>
                <a:latin typeface="Calibri"/>
              </a:rPr>
              <a:t>Playable coding levels with real execution, per-test pass/fail, XP and the treasure reward.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40480"/>
            <a:ext cx="4050791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7" y="3986784"/>
            <a:ext cx="3685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8A8698"/>
                </a:solidFill>
                <a:latin typeface="Calibri"/>
              </a:rPr>
              <a:t>KEY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7" y="4315968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backend/src/execution/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7" y="4700016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backend/src/routes/levels.ts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7" y="5084064"/>
            <a:ext cx="3648455" cy="310896"/>
          </a:xfrm>
          <a:prstGeom prst="roundRect">
            <a:avLst>
              <a:gd name="adj" fmla="val 20000"/>
            </a:avLst>
          </a:prstGeom>
          <a:solidFill>
            <a:srgbClr val="F3F1EA"/>
          </a:solidFill>
          <a:ln w="952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150" b="0">
                <a:solidFill>
                  <a:srgbClr val="55516A"/>
                </a:solidFill>
                <a:latin typeface="Consolas"/>
              </a:rPr>
              <a:t>frontend · PlayScreen.tsx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MODULE 3 · 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Solve, run,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open the chest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0911535" cy="3063240"/>
          </a:xfrm>
          <a:prstGeom prst="roundRect">
            <a:avLst>
              <a:gd name="adj" fmla="val 3000"/>
            </a:avLst>
          </a:prstGeom>
          <a:solidFill>
            <a:srgbClr val="F3F1EA"/>
          </a:solidFill>
          <a:ln w="19050">
            <a:solidFill>
              <a:srgbClr val="8A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3000" b="0">
                <a:solidFill>
                  <a:srgbClr val="4C2FBF"/>
                </a:solidFill>
                <a:latin typeface="Calibri"/>
              </a:rPr>
              <a:t>▢</a:t>
            </a:r>
          </a:p>
          <a:p>
            <a:pPr algn="ctr"/>
            <a:r>
              <a:rPr sz="1800" b="1">
                <a:solidFill>
                  <a:srgbClr val="1E1B2E"/>
                </a:solidFill>
                <a:latin typeface="Calibri"/>
              </a:rPr>
              <a:t>Screenshot — Play screen + treasure reward</a:t>
            </a:r>
          </a:p>
          <a:p>
            <a:pPr algn="ctr"/>
            <a:r>
              <a:rPr sz="1300" b="0">
                <a:solidFill>
                  <a:srgbClr val="8A8698"/>
                </a:solidFill>
                <a:latin typeface="Calibri"/>
              </a:rPr>
              <a:t>Insert the play-screen capture (4/4 tests passed + treasure overlay)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>
                <a:solidFill>
                  <a:srgbClr val="1E1B2E"/>
                </a:solidFill>
                <a:latin typeface="Calibri"/>
              </a:rPr>
              <a:t>What it shows:  </a:t>
            </a:r>
            <a:r>
              <a:rPr sz="1400" b="0">
                <a:solidFill>
                  <a:srgbClr val="55516A"/>
                </a:solidFill>
                <a:latin typeface="Calibri"/>
              </a:rPr>
              <a:t>A student writes Java, runs the hidden tests, passes all four, earns XP — and the treasure chest opens.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C98A00"/>
                </a:solidFill>
                <a:latin typeface="Calibri"/>
              </a:rPr>
              <a:t>WHERE WE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400" b="1">
                <a:solidFill>
                  <a:srgbClr val="1E1B2E"/>
                </a:solidFill>
                <a:latin typeface="Calibri Light"/>
              </a:rPr>
              <a:t>Current status &amp; </a:t>
            </a:r>
            <a:r>
              <a:rPr sz="3400" b="1">
                <a:solidFill>
                  <a:srgbClr val="4C2FBF"/>
                </a:solidFill>
                <a:latin typeface="Calibri Light"/>
              </a:rPr>
              <a:t>next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3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E9E6B"/>
                </a:solidFill>
                <a:latin typeface="Calibri"/>
              </a:rPr>
              <a:t>MODULES 1–3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599" y="2359152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E1B2E"/>
                </a:solidFill>
                <a:latin typeface="Calibri"/>
              </a:rP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>
                <a:solidFill>
                  <a:srgbClr val="2E9E6B"/>
                </a:solidFill>
                <a:latin typeface="Calibri"/>
              </a:rPr>
              <a:t>●  </a:t>
            </a:r>
            <a:r>
              <a:rPr sz="1500" b="1">
                <a:solidFill>
                  <a:srgbClr val="1E1B2E"/>
                </a:solidFill>
                <a:latin typeface="Calibri"/>
              </a:rPr>
              <a:t>Module 1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Authentication &amp; smart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>
                <a:solidFill>
                  <a:srgbClr val="2E9E6B"/>
                </a:solidFill>
                <a:latin typeface="Calibri"/>
              </a:rPr>
              <a:t>●  </a:t>
            </a:r>
            <a:r>
              <a:rPr sz="1500" b="1">
                <a:solidFill>
                  <a:srgbClr val="1E1B2E"/>
                </a:solidFill>
                <a:latin typeface="Calibri"/>
              </a:rPr>
              <a:t>Module 2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Personalized roadmap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9709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>
                <a:solidFill>
                  <a:srgbClr val="2E9E6B"/>
                </a:solidFill>
                <a:latin typeface="Calibri"/>
              </a:rPr>
              <a:t>●  </a:t>
            </a:r>
            <a:r>
              <a:rPr sz="1500" b="1">
                <a:solidFill>
                  <a:srgbClr val="1E1B2E"/>
                </a:solidFill>
                <a:latin typeface="Calibri"/>
              </a:rPr>
              <a:t>Module 3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Interactive coding game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55464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55516A"/>
                </a:solidFill>
                <a:latin typeface="Calibri"/>
              </a:rPr>
              <a:t>Together these deliver a complete loop: sign up → personalized roadmap → play a coding quest → earn XP.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331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B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C98A00"/>
                </a:solidFill>
                <a:latin typeface="Calibri"/>
              </a:rPr>
              <a:t>MODULES 4–6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359152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E1B2E"/>
                </a:solidFill>
                <a:latin typeface="Calibri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>
                <a:solidFill>
                  <a:srgbClr val="C98A00"/>
                </a:solidFill>
                <a:latin typeface="Calibri"/>
              </a:rPr>
              <a:t>●  </a:t>
            </a:r>
            <a:r>
              <a:rPr sz="1500" b="1">
                <a:solidFill>
                  <a:srgbClr val="1E1B2E"/>
                </a:solidFill>
                <a:latin typeface="Calibri"/>
              </a:rPr>
              <a:t>Module 4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Progress, streaks, badges &amp; leaderboard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301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>
                <a:solidFill>
                  <a:srgbClr val="C98A00"/>
                </a:solidFill>
                <a:latin typeface="Calibri"/>
              </a:rPr>
              <a:t>●  </a:t>
            </a:r>
            <a:r>
              <a:rPr sz="1500" b="1">
                <a:solidFill>
                  <a:srgbClr val="1E1B2E"/>
                </a:solidFill>
                <a:latin typeface="Calibri"/>
              </a:rPr>
              <a:t>Module 5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Placement readiness &amp; company-wise DSA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9709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00" b="1">
                <a:solidFill>
                  <a:srgbClr val="C98A00"/>
                </a:solidFill>
                <a:latin typeface="Calibri"/>
              </a:rPr>
              <a:t>●  </a:t>
            </a:r>
            <a:r>
              <a:rPr sz="1500" b="1">
                <a:solidFill>
                  <a:srgbClr val="1E1B2E"/>
                </a:solidFill>
                <a:latin typeface="Calibri"/>
              </a:rPr>
              <a:t>Module 6</a:t>
            </a:r>
            <a:r>
              <a:rPr sz="1500" b="0">
                <a:solidFill>
                  <a:srgbClr val="55516A"/>
                </a:solidFill>
                <a:latin typeface="Calibri"/>
              </a:rPr>
              <a:t>  — AI disengagement prediction (OULAD)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55464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>
                <a:solidFill>
                  <a:srgbClr val="55516A"/>
                </a:solidFill>
                <a:latin typeface="Calibri"/>
              </a:rPr>
              <a:t>The analytics &amp; AI layer that turns the game into a guided, data-driven placement platform.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502920" cy="502920"/>
          </a:xfrm>
          <a:prstGeom prst="ellipse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74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4C2FBF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603504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5516A"/>
                </a:solidFill>
                <a:latin typeface="Calibri"/>
              </a:rPr>
              <a:t>Department of 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1750"/>
          </a:xfrm>
          <a:prstGeom prst="rect">
            <a:avLst/>
          </a:prstGeom>
          <a:solidFill>
            <a:srgbClr val="4C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11430"/>
          </a:xfrm>
          <a:prstGeom prst="rect">
            <a:avLst/>
          </a:prstGeom>
          <a:solidFill>
            <a:srgbClr val="E4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4C2FBF"/>
                </a:solidFill>
                <a:latin typeface="Calibri"/>
              </a:rPr>
              <a:t>Department of AI &amp;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5566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55516A"/>
                </a:solidFill>
                <a:latin typeface="Calibri"/>
              </a:rPr>
              <a:t>S.E.A College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8A8698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400" b="1">
                <a:solidFill>
                  <a:srgbClr val="4C2FBF"/>
                </a:solidFill>
                <a:latin typeface="Calibri Light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>
                <a:solidFill>
                  <a:srgbClr val="55516A"/>
                </a:solidFill>
                <a:latin typeface="Calibri"/>
              </a:rPr>
              <a:t>SkillQuest · Phase 2 Review · Nandan S, Anjith K. J &amp; Bhanushree C. 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